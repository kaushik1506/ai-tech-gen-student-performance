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2743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724912"/>
            <a:ext cx="12188952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2761488"/>
            <a:ext cx="12188952" cy="409651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601200" y="-1097280"/>
            <a:ext cx="3657600" cy="36576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058400" y="-640080"/>
            <a:ext cx="2743200" cy="27432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960120"/>
            <a:ext cx="2011680" cy="34747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1207" y="978408"/>
            <a:ext cx="20116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ML CLASSIFICATION PROJECT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46304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</a:rPr>
              <a:t>Student Performance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1488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0" i="0">
                <a:solidFill>
                  <a:srgbClr val="3B82F6"/>
                </a:solidFill>
              </a:rPr>
              <a:t>Prediction &amp; Classification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108960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CBD5E1"/>
                </a:solidFill>
              </a:rPr>
              <a:t>A comprehensive Random Forest ML pipeline to predict student letter grades (A–F)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3977639"/>
            <a:ext cx="2331720" cy="12344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3977639"/>
            <a:ext cx="64008" cy="12344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069079"/>
            <a:ext cx="21488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3B82F6"/>
                </a:solidFill>
              </a:rPr>
              <a:t>~16,000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544568"/>
            <a:ext cx="21488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Dataset Size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864607"/>
            <a:ext cx="21488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Student records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971800" y="3977639"/>
            <a:ext cx="2331720" cy="12344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971800" y="3977639"/>
            <a:ext cx="64008" cy="12344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108960" y="4069079"/>
            <a:ext cx="21488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0B981"/>
                </a:solidFill>
              </a:rPr>
              <a:t>75.77%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08960" y="4544568"/>
            <a:ext cx="21488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Test Accuracy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08960" y="4864607"/>
            <a:ext cx="21488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RandomForestClassifier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40680" y="3977639"/>
            <a:ext cx="2331720" cy="12344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40680" y="3977639"/>
            <a:ext cx="64008" cy="123444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577840" y="4069079"/>
            <a:ext cx="21488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8B5CF6"/>
                </a:solidFill>
              </a:rPr>
              <a:t>RF + Grid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577840" y="4544568"/>
            <a:ext cx="21488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Algorithm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77840" y="4864607"/>
            <a:ext cx="21488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GridSearchCV tuned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909560" y="3977639"/>
            <a:ext cx="2331720" cy="12344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909560" y="3977639"/>
            <a:ext cx="64008" cy="123444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46720" y="4069079"/>
            <a:ext cx="21488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BBF24"/>
                </a:solidFill>
              </a:rPr>
              <a:t>6 Grades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46720" y="4544568"/>
            <a:ext cx="21488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Output Classes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46720" y="4864607"/>
            <a:ext cx="21488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A  B  C  D  E  F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64922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BD5E1"/>
                </a:solidFill>
              </a:rPr>
              <a:t>AI Tech Gen  •  Student Performance ML  •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144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B82F6"/>
                </a:solidFill>
              </a:rPr>
              <a:t>PROJECT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1148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What We Built &amp; Why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371600"/>
            <a:ext cx="5394960" cy="5029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371600"/>
            <a:ext cx="5394960" cy="6400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41732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🎯  Objective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874519"/>
            <a:ext cx="5120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 i="0">
                <a:solidFill>
                  <a:srgbClr val="CBD5E1"/>
                </a:solidFill>
              </a:rPr>
              <a:t>Transition from predicting continuous numerical scores to a full multi-class classification problem. The goal is to map six student features directly to a final letter grade (A–F) using machine learning.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33756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📋  Input Features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794760"/>
            <a:ext cx="5074920" cy="292608"/>
          </a:xfrm>
          <a:prstGeom prst="rect">
            <a:avLst/>
          </a:prstGeom>
          <a:solidFill>
            <a:srgbClr val="273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3822192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17520" y="3822192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Student demographic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142232"/>
            <a:ext cx="5074920" cy="292608"/>
          </a:xfrm>
          <a:prstGeom prst="rect">
            <a:avLst/>
          </a:prstGeom>
          <a:solidFill>
            <a:srgbClr val="273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4169664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Study Hours / Week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17520" y="4169664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Behavioural signal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4489704"/>
            <a:ext cx="5074920" cy="292608"/>
          </a:xfrm>
          <a:prstGeom prst="rect">
            <a:avLst/>
          </a:prstGeom>
          <a:solidFill>
            <a:srgbClr val="273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4517136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Attendance 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17520" y="4517136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Engagement metric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4837176"/>
            <a:ext cx="5074920" cy="292608"/>
          </a:xfrm>
          <a:prstGeom prst="rect">
            <a:avLst/>
          </a:prstGeom>
          <a:solidFill>
            <a:srgbClr val="273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4864608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Math Score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17520" y="4864608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Academic baseline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5184648"/>
            <a:ext cx="5074920" cy="292608"/>
          </a:xfrm>
          <a:prstGeom prst="rect">
            <a:avLst/>
          </a:prstGeom>
          <a:solidFill>
            <a:srgbClr val="273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521208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Science Score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017520" y="5212080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Academic baseline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5532120"/>
            <a:ext cx="5074920" cy="292608"/>
          </a:xfrm>
          <a:prstGeom prst="rect">
            <a:avLst/>
          </a:prstGeom>
          <a:solidFill>
            <a:srgbClr val="273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" y="5559552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English Score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017520" y="5559552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Academic baseline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09360" y="1371600"/>
            <a:ext cx="5486400" cy="23317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309360" y="1371600"/>
            <a:ext cx="5486400" cy="6400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92240" y="14173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🔬  Approach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2240" y="1874519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3B82F6"/>
                </a:solidFill>
              </a:rPr>
              <a:t>▶  </a:t>
            </a:r>
            <a:r>
              <a:rPr sz="1300">
                <a:solidFill>
                  <a:srgbClr val="FFFFFF"/>
                </a:solidFill>
              </a:rPr>
              <a:t>Full EDA &amp; feature visualisation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92240" y="2176272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3B82F6"/>
                </a:solidFill>
              </a:rPr>
              <a:t>▶  </a:t>
            </a:r>
            <a:r>
              <a:rPr sz="1300">
                <a:solidFill>
                  <a:srgbClr val="FFFFFF"/>
                </a:solidFill>
              </a:rPr>
              <a:t>Data cleaning &amp; One-Hot Encoding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92240" y="2478024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3B82F6"/>
                </a:solidFill>
              </a:rPr>
              <a:t>▶  </a:t>
            </a:r>
            <a:r>
              <a:rPr sz="1300">
                <a:solidFill>
                  <a:srgbClr val="FFFFFF"/>
                </a:solidFill>
              </a:rPr>
              <a:t>Stratified 80/20 train-test split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92240" y="2779776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3B82F6"/>
                </a:solidFill>
              </a:rPr>
              <a:t>▶  </a:t>
            </a:r>
            <a:r>
              <a:rPr sz="1300">
                <a:solidFill>
                  <a:srgbClr val="FFFFFF"/>
                </a:solidFill>
              </a:rPr>
              <a:t>RandomForestClassifier training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92240" y="3081528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3B82F6"/>
                </a:solidFill>
              </a:rPr>
              <a:t>▶  </a:t>
            </a:r>
            <a:r>
              <a:rPr sz="1300">
                <a:solidFill>
                  <a:srgbClr val="FFFFFF"/>
                </a:solidFill>
              </a:rPr>
              <a:t>GridSearchCV hyperparameter tuning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92240" y="338328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3B82F6"/>
                </a:solidFill>
              </a:rPr>
              <a:t>▶  </a:t>
            </a:r>
            <a:r>
              <a:rPr sz="1300">
                <a:solidFill>
                  <a:srgbClr val="FFFFFF"/>
                </a:solidFill>
              </a:rPr>
              <a:t>Multi-class evaluation &amp; confusion matrix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309360" y="3840480"/>
            <a:ext cx="5486400" cy="25603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309360" y="3840480"/>
            <a:ext cx="5486400" cy="640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92240" y="3904487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⚙️  Tech Stack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492240" y="4361688"/>
            <a:ext cx="5120640" cy="384048"/>
          </a:xfrm>
          <a:prstGeom prst="rect">
            <a:avLst/>
          </a:prstGeom>
          <a:solidFill>
            <a:srgbClr val="273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83680" y="4398264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B82F6"/>
                </a:solidFill>
              </a:rPr>
              <a:t>Python + Pandas + NumPy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006840" y="4398264"/>
            <a:ext cx="2606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Data processing &amp; manipulation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492240" y="4818888"/>
            <a:ext cx="5120640" cy="384048"/>
          </a:xfrm>
          <a:prstGeom prst="rect">
            <a:avLst/>
          </a:prstGeom>
          <a:solidFill>
            <a:srgbClr val="273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583680" y="4855464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B82F6"/>
                </a:solidFill>
              </a:rPr>
              <a:t>Matplotlib + Seaborn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006840" y="4855464"/>
            <a:ext cx="2606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Visualisation &amp; EDA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492240" y="5276088"/>
            <a:ext cx="5120640" cy="384048"/>
          </a:xfrm>
          <a:prstGeom prst="rect">
            <a:avLst/>
          </a:prstGeom>
          <a:solidFill>
            <a:srgbClr val="273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583680" y="5312664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B82F6"/>
                </a:solidFill>
              </a:rPr>
              <a:t>Scikit-Learn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006840" y="5312664"/>
            <a:ext cx="2606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ML model, GridSearchCV, metrics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492240" y="5733288"/>
            <a:ext cx="5120640" cy="384048"/>
          </a:xfrm>
          <a:prstGeom prst="rect">
            <a:avLst/>
          </a:prstGeom>
          <a:solidFill>
            <a:srgbClr val="273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583680" y="5769864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B82F6"/>
                </a:solidFill>
              </a:rPr>
              <a:t>HTML5 + JS + Tailwind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006840" y="5769864"/>
            <a:ext cx="2606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Interactive prediction web app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57200" y="653796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BD5E1"/>
                </a:solidFill>
              </a:rPr>
              <a:t>Slide 2 of 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14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B82F6"/>
                </a:solidFill>
              </a:rPr>
              <a:t>DATASET &amp; EXPLORATORY DATA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1148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Understanding the Data Before Modelling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325880"/>
            <a:ext cx="2377440" cy="11887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325880"/>
            <a:ext cx="64008" cy="1188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41732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3B82F6"/>
                </a:solidFill>
              </a:rPr>
              <a:t>~16,000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892807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Total Records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212848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Student entries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80360" y="1325880"/>
            <a:ext cx="2377440" cy="11887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880360" y="1325880"/>
            <a:ext cx="64008" cy="11887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17520" y="141732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8B5CF6"/>
                </a:solidFill>
              </a:rPr>
              <a:t>6 Classes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17520" y="1892807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Target Variable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17520" y="2212848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A / B / C / D / E / F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394960" y="1325880"/>
            <a:ext cx="2377440" cy="11887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394960" y="1325880"/>
            <a:ext cx="64008" cy="1188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532120" y="141732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0B981"/>
                </a:solidFill>
              </a:rPr>
              <a:t>80 / 20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32120" y="1892807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Split Strategy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32120" y="2212848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Stratified split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909560" y="1325880"/>
            <a:ext cx="2377440" cy="11887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909560" y="1325880"/>
            <a:ext cx="64008" cy="118872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46720" y="141732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BBF24"/>
                </a:solidFill>
              </a:rPr>
              <a:t>Imputed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20" y="1892807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Missing Values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46720" y="2212848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Median / Mode fill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2651760"/>
            <a:ext cx="5394960" cy="39319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65760" y="2651760"/>
            <a:ext cx="539496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272491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📊  Grade Distribution</a:t>
            </a:r>
          </a:p>
        </p:txBody>
      </p:sp>
      <p:pic>
        <p:nvPicPr>
          <p:cNvPr id="30" name="Picture 29" descr="grade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127248"/>
            <a:ext cx="5212080" cy="3291840"/>
          </a:xfrm>
          <a:prstGeom prst="rect">
            <a:avLst/>
          </a:prstGeom>
        </p:spPr>
      </p:pic>
      <p:sp>
        <p:nvSpPr>
          <p:cNvPr id="31" name="Rectangle 30"/>
          <p:cNvSpPr/>
          <p:nvPr/>
        </p:nvSpPr>
        <p:spPr>
          <a:xfrm>
            <a:off x="6309360" y="2651760"/>
            <a:ext cx="5486400" cy="39319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309360" y="2651760"/>
            <a:ext cx="5486400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92240" y="272491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🔍  Key EDA Findings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92240" y="3154680"/>
            <a:ext cx="5120640" cy="457200"/>
          </a:xfrm>
          <a:prstGeom prst="rect">
            <a:avLst/>
          </a:prstGeom>
          <a:solidFill>
            <a:srgbClr val="273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629400" y="3182112"/>
            <a:ext cx="2011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B82F6"/>
                </a:solidFill>
              </a:rPr>
              <a:t>Grade Imbalance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29400" y="3374136"/>
            <a:ext cx="4846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</a:rPr>
              <a:t>Grades C &amp; D dominate (~3,700 each). Grade A is rarest (~750). Required stratified splitting.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92240" y="3685032"/>
            <a:ext cx="5120640" cy="457200"/>
          </a:xfrm>
          <a:prstGeom prst="rect">
            <a:avLst/>
          </a:prstGeom>
          <a:solidFill>
            <a:srgbClr val="273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629400" y="3712464"/>
            <a:ext cx="2011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B82F6"/>
                </a:solidFill>
              </a:rPr>
              <a:t>Study Hours → Scores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29400" y="3904488"/>
            <a:ext cx="4846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</a:rPr>
              <a:t>Strong correlation (0.80) between study_hours and all subject scores. A primary driver.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492240" y="4215384"/>
            <a:ext cx="5120640" cy="457200"/>
          </a:xfrm>
          <a:prstGeom prst="rect">
            <a:avLst/>
          </a:prstGeom>
          <a:solidFill>
            <a:srgbClr val="273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629400" y="4242816"/>
            <a:ext cx="2011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B82F6"/>
                </a:solidFill>
              </a:rPr>
              <a:t>Attendance Impact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629400" y="4434840"/>
            <a:ext cx="4846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</a:rPr>
              <a:t>Moderate correlation (0.25–0.29) with academic scores. Acts as an amplifier.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492240" y="4745736"/>
            <a:ext cx="5120640" cy="457200"/>
          </a:xfrm>
          <a:prstGeom prst="rect">
            <a:avLst/>
          </a:prstGeom>
          <a:solidFill>
            <a:srgbClr val="273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629400" y="4773168"/>
            <a:ext cx="2011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B82F6"/>
                </a:solidFill>
              </a:rPr>
              <a:t>Age is Irrelevant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629400" y="4965192"/>
            <a:ext cx="4846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</a:rPr>
              <a:t>Age shows near-zero correlations (≈ 0.00–0.01) with all other features.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492240" y="5276088"/>
            <a:ext cx="5120640" cy="457200"/>
          </a:xfrm>
          <a:prstGeom prst="rect">
            <a:avLst/>
          </a:prstGeom>
          <a:solidFill>
            <a:srgbClr val="273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629400" y="5303520"/>
            <a:ext cx="2011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B82F6"/>
                </a:solidFill>
              </a:rPr>
              <a:t>Subject Scores Co-vary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629400" y="5495544"/>
            <a:ext cx="4846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</a:rPr>
              <a:t>Math, Science, English correlate tightly with each other (~0.79) and overall score (~0.88–0.89).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492240" y="5806440"/>
            <a:ext cx="5120640" cy="457200"/>
          </a:xfrm>
          <a:prstGeom prst="rect">
            <a:avLst/>
          </a:prstGeom>
          <a:solidFill>
            <a:srgbClr val="273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629400" y="5833872"/>
            <a:ext cx="2011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B82F6"/>
                </a:solidFill>
              </a:rPr>
              <a:t>Leakage Removed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629400" y="6025896"/>
            <a:ext cx="484632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</a:rPr>
              <a:t>overall_score dropped to avoid data leakage — model must predict from raw inputs only.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57200" y="653796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BD5E1"/>
                </a:solidFill>
              </a:rPr>
              <a:t>Slide 3 of 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14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B82F6"/>
                </a:solidFill>
              </a:rPr>
              <a:t>FEATURE CORRELATION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114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</a:rPr>
              <a:t>Correlation Heatmap — Understanding Feature Relationships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325880"/>
            <a:ext cx="6858000" cy="53035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correlation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6675120" cy="516636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498079" y="1325880"/>
            <a:ext cx="4297680" cy="53035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498079" y="1325880"/>
            <a:ext cx="429768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80960" y="1399032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📌  Interpretation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635240" y="1874519"/>
            <a:ext cx="4023360" cy="822960"/>
          </a:xfrm>
          <a:prstGeom prst="rect">
            <a:avLst/>
          </a:prstGeom>
          <a:solidFill>
            <a:srgbClr val="273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0" y="1911095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0B981"/>
                </a:solidFill>
              </a:rPr>
              <a:t>Study Hours ↔ Scores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21240" y="1911095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10B981"/>
                </a:solidFill>
              </a:rPr>
              <a:t>r = 0.80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0" y="2221991"/>
            <a:ext cx="374903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BD5E1"/>
                </a:solidFill>
              </a:rPr>
              <a:t>Strongest predictor. More study time strongly linked to higher subject scores.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635240" y="2807208"/>
            <a:ext cx="4023360" cy="822960"/>
          </a:xfrm>
          <a:prstGeom prst="rect">
            <a:avLst/>
          </a:prstGeom>
          <a:solidFill>
            <a:srgbClr val="273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843784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B82F6"/>
                </a:solidFill>
              </a:rPr>
              <a:t>Scores ↔ Each Other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21240" y="2843784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3B82F6"/>
                </a:solidFill>
              </a:rPr>
              <a:t>r = ~0.79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0" y="3154679"/>
            <a:ext cx="374903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BD5E1"/>
                </a:solidFill>
              </a:rPr>
              <a:t>Math, Science &amp; English are tightly linked — students tend to be uniformly strong/weak.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635240" y="3739896"/>
            <a:ext cx="4023360" cy="822960"/>
          </a:xfrm>
          <a:prstGeom prst="rect">
            <a:avLst/>
          </a:prstGeom>
          <a:solidFill>
            <a:srgbClr val="273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0" y="3776472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BBF24"/>
                </a:solidFill>
              </a:rPr>
              <a:t>Attendance ↔ Scores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21240" y="3776472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FBBF24"/>
                </a:solidFill>
              </a:rPr>
              <a:t>r = 0.25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0" y="4087368"/>
            <a:ext cx="374903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BD5E1"/>
                </a:solidFill>
              </a:rPr>
              <a:t>Moderate effect. Consistent attendance helps but is not the sole driver.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635240" y="4672583"/>
            <a:ext cx="4023360" cy="822960"/>
          </a:xfrm>
          <a:prstGeom prst="rect">
            <a:avLst/>
          </a:prstGeom>
          <a:solidFill>
            <a:srgbClr val="273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0" y="4709159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97316"/>
                </a:solidFill>
              </a:rPr>
              <a:t>Age ↔ Everything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21240" y="4709159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F97316"/>
                </a:solidFill>
              </a:rPr>
              <a:t>r = ≈0.00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0" y="5020055"/>
            <a:ext cx="374903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BD5E1"/>
                </a:solidFill>
              </a:rPr>
              <a:t>Age carries virtually no predictive signal — correctly excluded as noise.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635240" y="5605272"/>
            <a:ext cx="4023360" cy="822960"/>
          </a:xfrm>
          <a:prstGeom prst="rect">
            <a:avLst/>
          </a:prstGeom>
          <a:solidFill>
            <a:srgbClr val="273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0" y="5641848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B5CF6"/>
                </a:solidFill>
              </a:rPr>
              <a:t>Overall Score (Dropped)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21240" y="5641848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8B5CF6"/>
                </a:solidFill>
              </a:rPr>
              <a:t>r = 0.91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0" y="5952744"/>
            <a:ext cx="374903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BD5E1"/>
                </a:solidFill>
              </a:rPr>
              <a:t>overall_score correlates 0.91 with study_hours — excluded to prevent data leakage.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653796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BD5E1"/>
                </a:solidFill>
              </a:rPr>
              <a:t>Slide 4 of 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14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B82F6"/>
                </a:solidFill>
              </a:rPr>
              <a:t>DATA PREPROCESSING &amp; FEATURE ENGINEERING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1148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Cleaning, Encoding &amp; Preparing the Pipeline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371600"/>
            <a:ext cx="5577840" cy="1600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371600"/>
            <a:ext cx="557784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508760"/>
            <a:ext cx="457200" cy="4572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5087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" y="1536192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Noise Removal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196596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BD5E1"/>
                </a:solidFill>
              </a:rPr>
              <a:t>Dropped student_id — a meaningless unique identifier that would cause the model to overfit to individual records rather than learn generalizable patterns.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1371600"/>
            <a:ext cx="5577840" cy="1600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9360" y="1371600"/>
            <a:ext cx="5577840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0" y="1508760"/>
            <a:ext cx="457200" cy="4572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15087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67728" y="1536192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Data Leakage Prevention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196596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BD5E1"/>
                </a:solidFill>
              </a:rPr>
              <a:t>Removed the overall_score column. This column is a direct derivative of subject scores and would trivially reveal the answer, making the model useless in real-world inference.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3108960"/>
            <a:ext cx="5577840" cy="1600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5760" y="3108960"/>
            <a:ext cx="557784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3246120"/>
            <a:ext cx="457200" cy="4572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32461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4128" y="3273552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Missing Value Imputation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370332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BD5E1"/>
                </a:solidFill>
              </a:rPr>
              <a:t>Numerical columns → filled with median (robust to outliers). Categorical columns → filled with mode (most-frequent value). Ensured zero null values before training.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09360" y="3108960"/>
            <a:ext cx="5577840" cy="1600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309360" y="3108960"/>
            <a:ext cx="5577840" cy="54864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400800" y="3246120"/>
            <a:ext cx="457200" cy="45720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0" y="32461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67728" y="3273552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One-Hot Encoding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46520" y="370332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BD5E1"/>
                </a:solidFill>
              </a:rPr>
              <a:t>Applied pd.get_dummies() to convert all text-based categorical features into binary (0/1) machine-readable columns. Prevents ordinal bias in the classifier.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4846320"/>
            <a:ext cx="5577840" cy="1600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65760" y="4846320"/>
            <a:ext cx="5577840" cy="54864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57200" y="4983480"/>
            <a:ext cx="457200" cy="4572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" y="49834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24128" y="5010912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Stratified Train/Test Split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" y="544068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BD5E1"/>
                </a:solidFill>
              </a:rPr>
              <a:t>80% training / 20% testing. Stratified by final_grade ensures rare classes like 'A' and 'F' appear proportionately in both sets — critical for unbiased evaluation.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309360" y="4846320"/>
            <a:ext cx="5577840" cy="1600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309360" y="4846320"/>
            <a:ext cx="5577840" cy="54864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400800" y="4983480"/>
            <a:ext cx="457200" cy="45720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00800" y="49834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967728" y="5010912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Feature Matrix (X) &amp; Labels (y)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46520" y="544068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BD5E1"/>
                </a:solidFill>
              </a:rPr>
              <a:t>Final feature set: age, study_hours, attendance_percentage, math_score, science_score, english_score + any encoded categoricals. Target: final_grade (A–F).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" y="653796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BD5E1"/>
                </a:solidFill>
              </a:rPr>
              <a:t>Slide 5 of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14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B82F6"/>
                </a:solidFill>
              </a:rPr>
              <a:t>MODEL TRAINING &amp; HYPERPARAMETER TUNING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1148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Random Forest + GridSearchCV Optimization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325880"/>
            <a:ext cx="5394960" cy="30175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325880"/>
            <a:ext cx="539496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399032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🌲  Why RandomForestClassifier?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874519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3B82F6"/>
                </a:solidFill>
              </a:rPr>
              <a:t>▶  </a:t>
            </a:r>
            <a:r>
              <a:rPr sz="1300">
                <a:solidFill>
                  <a:srgbClr val="FFFFFF"/>
                </a:solidFill>
              </a:rPr>
              <a:t>Handles non-linear, complex feature relationships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221991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3B82F6"/>
                </a:solidFill>
              </a:rPr>
              <a:t>▶  </a:t>
            </a:r>
            <a:r>
              <a:rPr sz="1300">
                <a:solidFill>
                  <a:srgbClr val="FFFFFF"/>
                </a:solidFill>
              </a:rPr>
              <a:t>Resistant to overfitting via ensemble averaging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569463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3B82F6"/>
                </a:solidFill>
              </a:rPr>
              <a:t>▶  </a:t>
            </a:r>
            <a:r>
              <a:rPr sz="1300">
                <a:solidFill>
                  <a:srgbClr val="FFFFFF"/>
                </a:solidFill>
              </a:rPr>
              <a:t>Handles correlated features (study_hours ↔ scores)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916936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3B82F6"/>
                </a:solidFill>
              </a:rPr>
              <a:t>▶  </a:t>
            </a:r>
            <a:r>
              <a:rPr sz="1300">
                <a:solidFill>
                  <a:srgbClr val="FFFFFF"/>
                </a:solidFill>
              </a:rPr>
              <a:t>Built-in feature importance ranking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264408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3B82F6"/>
                </a:solidFill>
              </a:rPr>
              <a:t>▶  </a:t>
            </a:r>
            <a:r>
              <a:rPr sz="1300">
                <a:solidFill>
                  <a:srgbClr val="FFFFFF"/>
                </a:solidFill>
              </a:rPr>
              <a:t>Works well on multi-class problems out-of-the-box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611879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3B82F6"/>
                </a:solidFill>
              </a:rPr>
              <a:t>▶  </a:t>
            </a:r>
            <a:r>
              <a:rPr sz="1300">
                <a:solidFill>
                  <a:srgbClr val="FFFFFF"/>
                </a:solidFill>
              </a:rPr>
              <a:t>No need to scale/normalize features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60" y="1325880"/>
            <a:ext cx="5486400" cy="30175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09360" y="1325880"/>
            <a:ext cx="5486400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1399032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🔧  GridSearchCV Configuration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1874519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</a:rPr>
              <a:t>Param Grid Tested: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92240" y="2194560"/>
            <a:ext cx="5120640" cy="384048"/>
          </a:xfrm>
          <a:prstGeom prst="rect">
            <a:avLst/>
          </a:prstGeom>
          <a:solidFill>
            <a:srgbClr val="273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29400" y="2249424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B82F6"/>
                </a:solidFill>
              </a:rPr>
              <a:t>n_estimators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38160" y="224942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BBF24"/>
                </a:solidFill>
              </a:rPr>
              <a:t>[50, 100, 150]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55480" y="2249424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</a:rPr>
              <a:t>Number of trees in the forest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92240" y="2651760"/>
            <a:ext cx="5120640" cy="384048"/>
          </a:xfrm>
          <a:prstGeom prst="rect">
            <a:avLst/>
          </a:prstGeom>
          <a:solidFill>
            <a:srgbClr val="273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29400" y="2706624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B82F6"/>
                </a:solidFill>
              </a:rPr>
              <a:t>max_depth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38160" y="270662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BBF24"/>
                </a:solidFill>
              </a:rPr>
              <a:t>[None, 10, 20]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55480" y="2706624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</a:rPr>
              <a:t>Maximum depth of each tree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92240" y="3108960"/>
            <a:ext cx="5120640" cy="384048"/>
          </a:xfrm>
          <a:prstGeom prst="rect">
            <a:avLst/>
          </a:prstGeom>
          <a:solidFill>
            <a:srgbClr val="273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29400" y="3163824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B82F6"/>
                </a:solidFill>
              </a:rPr>
              <a:t>CV Folds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38160" y="316382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BBF24"/>
                </a:solidFill>
              </a:rPr>
              <a:t>5-fold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555480" y="3163824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</a:rPr>
              <a:t>Cross-validation strategy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92240" y="3566160"/>
            <a:ext cx="5120640" cy="384048"/>
          </a:xfrm>
          <a:prstGeom prst="rect">
            <a:avLst/>
          </a:prstGeom>
          <a:solidFill>
            <a:srgbClr val="273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629400" y="3621024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B82F6"/>
                </a:solidFill>
              </a:rPr>
              <a:t>Scoring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38160" y="362102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BBF24"/>
                </a:solidFill>
              </a:rPr>
              <a:t>accuracy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555480" y="3621024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</a:rPr>
              <a:t>Metric used for selection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4480560"/>
            <a:ext cx="11430000" cy="21031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65760" y="4480560"/>
            <a:ext cx="1143000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4553712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🏆  Best Parameters Found by GridSearchCV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48640" y="4983480"/>
            <a:ext cx="3566160" cy="1417320"/>
          </a:xfrm>
          <a:prstGeom prst="rect">
            <a:avLst/>
          </a:prstGeom>
          <a:solidFill>
            <a:srgbClr val="273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85800" y="5047488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B5CF6"/>
                </a:solidFill>
              </a:rPr>
              <a:t>max_depth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5800" y="5321808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0B981"/>
                </a:solidFill>
              </a:rPr>
              <a:t>None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5800" y="5650992"/>
            <a:ext cx="3291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</a:rPr>
              <a:t>Trees are allowed to grow to full depth — the data is complex enough to benefit from deep splits.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343400" y="4983480"/>
            <a:ext cx="3566160" cy="1417320"/>
          </a:xfrm>
          <a:prstGeom prst="rect">
            <a:avLst/>
          </a:prstGeom>
          <a:solidFill>
            <a:srgbClr val="273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480560" y="5047488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B5CF6"/>
                </a:solidFill>
              </a:rPr>
              <a:t>n_estimators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480560" y="5321808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0B981"/>
                </a:solidFill>
              </a:rPr>
              <a:t>50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480560" y="5650992"/>
            <a:ext cx="3291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</a:rPr>
              <a:t>50 trees gave optimal accuracy without the overhead of larger ensembles.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138160" y="4983480"/>
            <a:ext cx="3566160" cy="1417320"/>
          </a:xfrm>
          <a:prstGeom prst="rect">
            <a:avLst/>
          </a:prstGeom>
          <a:solidFill>
            <a:srgbClr val="273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275320" y="5047488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8B5CF6"/>
                </a:solidFill>
              </a:rPr>
              <a:t>Best CV Score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275320" y="5321808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10B981"/>
                </a:solidFill>
              </a:rPr>
              <a:t>~75.77%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275320" y="5650992"/>
            <a:ext cx="3291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</a:rPr>
              <a:t>Achieved on the held-out 20% test set after fitting on stratified 80% training data.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57200" y="653796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BD5E1"/>
                </a:solidFill>
              </a:rPr>
              <a:t>Slide 6 of 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14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B82F6"/>
                </a:solidFill>
              </a:rPr>
              <a:t>MODEL EVALUATION &amp; RESULTS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1148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Performance Metrics &amp; Confusion Matrix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298448"/>
            <a:ext cx="2560320" cy="120700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298448"/>
            <a:ext cx="64008" cy="12070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389888"/>
            <a:ext cx="23774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0B981"/>
                </a:solidFill>
              </a:rPr>
              <a:t>75.77%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865376"/>
            <a:ext cx="23774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Test Accuracy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185415"/>
            <a:ext cx="23774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Held-out 20% test set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063240" y="1298448"/>
            <a:ext cx="3017520" cy="120700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063240" y="1298448"/>
            <a:ext cx="64008" cy="1207008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00400" y="1389888"/>
            <a:ext cx="28346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BBF24"/>
                </a:solidFill>
              </a:rPr>
              <a:t>Adjacent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1865376"/>
            <a:ext cx="28346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Primary Errors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2185415"/>
            <a:ext cx="28346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Misclassifications only between neighboring grades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1298448"/>
            <a:ext cx="2560320" cy="120700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0" y="1298448"/>
            <a:ext cx="64008" cy="120700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5080" y="1389888"/>
            <a:ext cx="23774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8B5CF6"/>
                </a:solidFill>
              </a:rPr>
              <a:t>Zero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1865376"/>
            <a:ext cx="23774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Cross-Grade Err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2185415"/>
            <a:ext cx="23774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No A predicted as F or vice versa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915400" y="1298448"/>
            <a:ext cx="2560320" cy="1207008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915400" y="1298448"/>
            <a:ext cx="64008" cy="120700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52560" y="1389888"/>
            <a:ext cx="23774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3B82F6"/>
                </a:solidFill>
              </a:rPr>
              <a:t>C &amp; 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52560" y="1865376"/>
            <a:ext cx="23774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Best Predicted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52560" y="2185415"/>
            <a:ext cx="23774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Largest class → most training data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2633472"/>
            <a:ext cx="5943600" cy="3977639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65760" y="2633472"/>
            <a:ext cx="594360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2706624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📊  Confusion Matrix (Test Set)</a:t>
            </a:r>
          </a:p>
        </p:txBody>
      </p:sp>
      <p:pic>
        <p:nvPicPr>
          <p:cNvPr id="30" name="Picture 29" descr="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127248"/>
            <a:ext cx="5715000" cy="3383280"/>
          </a:xfrm>
          <a:prstGeom prst="rect">
            <a:avLst/>
          </a:prstGeom>
        </p:spPr>
      </p:pic>
      <p:sp>
        <p:nvSpPr>
          <p:cNvPr id="31" name="Rectangle 30"/>
          <p:cNvSpPr/>
          <p:nvPr/>
        </p:nvSpPr>
        <p:spPr>
          <a:xfrm>
            <a:off x="6492240" y="2633472"/>
            <a:ext cx="5303520" cy="3977639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492240" y="2633472"/>
            <a:ext cx="530352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675120" y="2706624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📋  Matrix Interpretation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675120" y="3145536"/>
            <a:ext cx="5029200" cy="493776"/>
          </a:xfrm>
          <a:prstGeom prst="rect">
            <a:avLst/>
          </a:prstGeom>
          <a:solidFill>
            <a:srgbClr val="273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12280" y="3182112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0B981"/>
                </a:solidFill>
              </a:rPr>
              <a:t>Grade A (Class 0)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12280" y="3401568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</a:rPr>
              <a:t>99 correctly classified. 43 confused with B — borderline A/B overlap is expected.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675120" y="3712463"/>
            <a:ext cx="5029200" cy="493776"/>
          </a:xfrm>
          <a:prstGeom prst="rect">
            <a:avLst/>
          </a:prstGeom>
          <a:solidFill>
            <a:srgbClr val="273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812280" y="3749039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B82F6"/>
                </a:solidFill>
              </a:rPr>
              <a:t>Grade B (Class 1)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12280" y="3968496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</a:rPr>
              <a:t>195 correct. Some confusion with A (24) and C (109) — middle grades are hardest to separate.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675120" y="4279392"/>
            <a:ext cx="5029200" cy="493776"/>
          </a:xfrm>
          <a:prstGeom prst="rect">
            <a:avLst/>
          </a:prstGeom>
          <a:solidFill>
            <a:srgbClr val="273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812280" y="4315968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B5CF6"/>
                </a:solidFill>
              </a:rPr>
              <a:t>Grade C (Class 2)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12280" y="4535424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</a:rPr>
              <a:t>596 correct (largest correct bucket). 82 confused with D — adjacent grade issue.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675120" y="4846320"/>
            <a:ext cx="5029200" cy="493776"/>
          </a:xfrm>
          <a:prstGeom prst="rect">
            <a:avLst/>
          </a:prstGeom>
          <a:solidFill>
            <a:srgbClr val="273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812280" y="4882896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BBF24"/>
                </a:solidFill>
              </a:rPr>
              <a:t>Grade D (Class 3)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12280" y="5102352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</a:rPr>
              <a:t>583 correct. 89 confused with C, 82 with E — symmetric neighbour confusion.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675120" y="5413248"/>
            <a:ext cx="5029200" cy="493776"/>
          </a:xfrm>
          <a:prstGeom prst="rect">
            <a:avLst/>
          </a:prstGeom>
          <a:solidFill>
            <a:srgbClr val="273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812280" y="5449824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97316"/>
                </a:solidFill>
              </a:rPr>
              <a:t>Grade E (Class 4)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812280" y="5669280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</a:rPr>
              <a:t>524 correct. 104 confused with D, 48 with F.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675120" y="5980176"/>
            <a:ext cx="5029200" cy="493776"/>
          </a:xfrm>
          <a:prstGeom prst="rect">
            <a:avLst/>
          </a:prstGeom>
          <a:solidFill>
            <a:srgbClr val="273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812280" y="6016752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F4444"/>
                </a:solidFill>
              </a:rPr>
              <a:t>Grade F (Class 5)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812280" y="6236208"/>
            <a:ext cx="47548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BD5E1"/>
                </a:solidFill>
              </a:rPr>
              <a:t>276 correct. 83 confused with E — model still can detect failing students.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57200" y="653796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BD5E1"/>
                </a:solidFill>
              </a:rPr>
              <a:t>Slide 7 of 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14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B82F6"/>
                </a:solidFill>
              </a:rPr>
              <a:t>WEB APPLICATION &amp; CONCLUSIONS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1148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 i="0">
                <a:solidFill>
                  <a:srgbClr val="FFFFFF"/>
                </a:solidFill>
              </a:rPr>
              <a:t>EduPredict AI — Interactive App &amp; Key Takeaways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325880"/>
            <a:ext cx="5394960" cy="52578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325880"/>
            <a:ext cx="5394960" cy="6400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417320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💻  EduPredict AI Web App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874519"/>
            <a:ext cx="5120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BD5E1"/>
                </a:solidFill>
              </a:rPr>
              <a:t>A fully interactive front-end simulation that brings the Random Forest's inference logic to life — no backend or Python installation required.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788920"/>
            <a:ext cx="5074920" cy="438912"/>
          </a:xfrm>
          <a:prstGeom prst="rect">
            <a:avLst/>
          </a:prstGeom>
          <a:solidFill>
            <a:srgbClr val="273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843784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B82F6"/>
                </a:solidFill>
              </a:rPr>
              <a:t>Input Form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94560" y="2843784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Accepts Age, Study Hours, Attendance %, Math, Science, English scores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291839"/>
            <a:ext cx="5074920" cy="438912"/>
          </a:xfrm>
          <a:prstGeom prst="rect">
            <a:avLst/>
          </a:prstGeom>
          <a:solidFill>
            <a:srgbClr val="273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346703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B82F6"/>
                </a:solidFill>
              </a:rPr>
              <a:t>Live Inference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94560" y="3346703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Simulates Random Forest logic: baseScore + behaviourBoost + noise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794760"/>
            <a:ext cx="5074920" cy="438912"/>
          </a:xfrm>
          <a:prstGeom prst="rect">
            <a:avLst/>
          </a:prstGeom>
          <a:solidFill>
            <a:srgbClr val="273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3849624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B82F6"/>
                </a:solidFill>
              </a:rPr>
              <a:t>Grade Badge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4560" y="3849624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Displays A–F prediction with colour-coded animated badge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4297680"/>
            <a:ext cx="5074920" cy="438912"/>
          </a:xfrm>
          <a:prstGeom prst="rect">
            <a:avLst/>
          </a:prstGeom>
          <a:solidFill>
            <a:srgbClr val="273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4352544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B82F6"/>
                </a:solidFill>
              </a:rPr>
              <a:t>Confidence Meter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94560" y="4352544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Animated progress bar showing model confidence (82–98% range)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4800600"/>
            <a:ext cx="5074920" cy="438912"/>
          </a:xfrm>
          <a:prstGeom prst="rect">
            <a:avLst/>
          </a:prstGeom>
          <a:solidFill>
            <a:srgbClr val="273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4855464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B82F6"/>
                </a:solidFill>
              </a:rPr>
              <a:t>Feature Importance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94560" y="4855464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Shows top 3 drivers: Academic Avg · Attendance · Study Hours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5303520"/>
            <a:ext cx="5074920" cy="438912"/>
          </a:xfrm>
          <a:prstGeom prst="rect">
            <a:avLst/>
          </a:prstGeom>
          <a:solidFill>
            <a:srgbClr val="2737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5358383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B82F6"/>
                </a:solidFill>
              </a:rPr>
              <a:t>Zero Dependencies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194560" y="5358383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BD5E1"/>
                </a:solidFill>
              </a:rPr>
              <a:t>Pure HTML5 + Tailwind CSS + Vanilla JS — open-and-run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09360" y="1325880"/>
            <a:ext cx="5486400" cy="25146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309360" y="1325880"/>
            <a:ext cx="5486400" cy="640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92240" y="1417320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✅  Key Conclusions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92240" y="1901952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>
                <a:solidFill>
                  <a:srgbClr val="3B82F6"/>
                </a:solidFill>
              </a:rPr>
              <a:t>✓  </a:t>
            </a:r>
            <a:r>
              <a:rPr sz="1250">
                <a:solidFill>
                  <a:srgbClr val="CBD5E1"/>
                </a:solidFill>
              </a:rPr>
              <a:t>75.77% accuracy on unseen data is solid for a 6-class problem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92240" y="2249424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>
                <a:solidFill>
                  <a:srgbClr val="3B82F6"/>
                </a:solidFill>
              </a:rPr>
              <a:t>✓  </a:t>
            </a:r>
            <a:r>
              <a:rPr sz="1250">
                <a:solidFill>
                  <a:srgbClr val="CBD5E1"/>
                </a:solidFill>
              </a:rPr>
              <a:t>Misclassifications are exclusively between adjacent grade boundaries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92240" y="2596896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>
                <a:solidFill>
                  <a:srgbClr val="3B82F6"/>
                </a:solidFill>
              </a:rPr>
              <a:t>✓  </a:t>
            </a:r>
            <a:r>
              <a:rPr sz="1250">
                <a:solidFill>
                  <a:srgbClr val="CBD5E1"/>
                </a:solidFill>
              </a:rPr>
              <a:t>Study Hours is the single most influential feature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92240" y="2944368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>
                <a:solidFill>
                  <a:srgbClr val="3B82F6"/>
                </a:solidFill>
              </a:rPr>
              <a:t>✓  </a:t>
            </a:r>
            <a:r>
              <a:rPr sz="1250">
                <a:solidFill>
                  <a:srgbClr val="CBD5E1"/>
                </a:solidFill>
              </a:rPr>
              <a:t>Stratified splitting was essential to handle class imbalance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92240" y="3291840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>
                <a:solidFill>
                  <a:srgbClr val="3B82F6"/>
                </a:solidFill>
              </a:rPr>
              <a:t>✓  </a:t>
            </a:r>
            <a:r>
              <a:rPr sz="1250">
                <a:solidFill>
                  <a:srgbClr val="CBD5E1"/>
                </a:solidFill>
              </a:rPr>
              <a:t>Random Forest outperforms simpler models on this non-linear dataset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309360" y="3977639"/>
            <a:ext cx="5486400" cy="26060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309360" y="3977639"/>
            <a:ext cx="5486400" cy="6400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92240" y="4069080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</a:rPr>
              <a:t>🚀  Future Improvements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92240" y="4553712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>
                <a:solidFill>
                  <a:srgbClr val="3B82F6"/>
                </a:solidFill>
              </a:rPr>
              <a:t>→  </a:t>
            </a:r>
            <a:r>
              <a:rPr sz="1250">
                <a:solidFill>
                  <a:srgbClr val="CBD5E1"/>
                </a:solidFill>
              </a:rPr>
              <a:t>Deploy with a Flask/FastAPI backend for real ML inference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92240" y="4901184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>
                <a:solidFill>
                  <a:srgbClr val="3B82F6"/>
                </a:solidFill>
              </a:rPr>
              <a:t>→  </a:t>
            </a:r>
            <a:r>
              <a:rPr sz="1250">
                <a:solidFill>
                  <a:srgbClr val="CBD5E1"/>
                </a:solidFill>
              </a:rPr>
              <a:t>Add SHAP explainability for per-prediction feature insights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92240" y="5248656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>
                <a:solidFill>
                  <a:srgbClr val="3B82F6"/>
                </a:solidFill>
              </a:rPr>
              <a:t>→  </a:t>
            </a:r>
            <a:r>
              <a:rPr sz="1250">
                <a:solidFill>
                  <a:srgbClr val="CBD5E1"/>
                </a:solidFill>
              </a:rPr>
              <a:t>Experiment with XGBoost or Neural Networks for higher accuracy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92240" y="5596128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>
                <a:solidFill>
                  <a:srgbClr val="3B82F6"/>
                </a:solidFill>
              </a:rPr>
              <a:t>→  </a:t>
            </a:r>
            <a:r>
              <a:rPr sz="1250">
                <a:solidFill>
                  <a:srgbClr val="CBD5E1"/>
                </a:solidFill>
              </a:rPr>
              <a:t>Include socio-economic and extracurricular features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92240" y="5943600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>
                <a:solidFill>
                  <a:srgbClr val="3B82F6"/>
                </a:solidFill>
              </a:rPr>
              <a:t>→  </a:t>
            </a:r>
            <a:r>
              <a:rPr sz="1250">
                <a:solidFill>
                  <a:srgbClr val="CBD5E1"/>
                </a:solidFill>
              </a:rPr>
              <a:t>Add real-time model retraining as new student data arrives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653796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BD5E1"/>
                </a:solidFill>
              </a:rPr>
              <a:t>Slide 8 of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